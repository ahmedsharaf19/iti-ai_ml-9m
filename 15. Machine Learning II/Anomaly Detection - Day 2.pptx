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3"/>
    <p:sldMasterId id="2147483671" r:id="rId4"/>
  </p:sldMasterIdLst>
  <p:notesMasterIdLst>
    <p:notesMasterId r:id="rId30"/>
  </p:notesMasterIdLst>
  <p:sldIdLst>
    <p:sldId id="256" r:id="rId5"/>
    <p:sldId id="483" r:id="rId6"/>
    <p:sldId id="258" r:id="rId7"/>
    <p:sldId id="427" r:id="rId8"/>
    <p:sldId id="430" r:id="rId9"/>
    <p:sldId id="537" r:id="rId10"/>
    <p:sldId id="392" r:id="rId11"/>
    <p:sldId id="519" r:id="rId12"/>
    <p:sldId id="529" r:id="rId13"/>
    <p:sldId id="530" r:id="rId14"/>
    <p:sldId id="531" r:id="rId15"/>
    <p:sldId id="532" r:id="rId16"/>
    <p:sldId id="533" r:id="rId17"/>
    <p:sldId id="534" r:id="rId18"/>
    <p:sldId id="535" r:id="rId19"/>
    <p:sldId id="536" r:id="rId20"/>
    <p:sldId id="452" r:id="rId21"/>
    <p:sldId id="429" r:id="rId22"/>
    <p:sldId id="432" r:id="rId23"/>
    <p:sldId id="433" r:id="rId24"/>
    <p:sldId id="538" r:id="rId25"/>
    <p:sldId id="544" r:id="rId26"/>
    <p:sldId id="545" r:id="rId27"/>
    <p:sldId id="546" r:id="rId28"/>
    <p:sldId id="547" r:id="rId2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64E217-71DA-4B82-9C10-77B14171DA9A}">
  <a:tblStyle styleId="{7E64E217-71DA-4B82-9C10-77B14171DA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96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9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64715794c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2b64715794c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6532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b64715794c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2b64715794c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327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2457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BB73B1B5-1DF6-166C-0578-D4164CCD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ADCDC48C-446F-B0CF-60A1-0788423F0C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A8C85913-38B5-650F-DE87-DFC7498C9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5809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4115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2491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7EDAE314-AF03-2C61-20CC-389E264CB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A82D3BD6-C488-2BE9-9A93-725A52B75A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20EE509D-24D0-A479-324F-1B71D2CFF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984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DB35173B-CAD0-CCB1-4834-769590DB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D2C54E0F-1780-94E9-5519-CB90305075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BAFB8DBA-E7F6-0333-4AED-7A6F52FFDB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5909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29E8199E-04F1-19A0-02B3-0CD4CC487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778E7930-4F24-8ED9-63A0-D27D975C7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03397F69-5442-4789-DFF3-D421021849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847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CFBB19F-9F25-242F-E9D8-9EDA89B81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F9584816-FFC7-A0A7-6082-7DD5E0C399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6790F75D-EA71-AA77-AC83-4B0C842D9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0358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99923586-3090-738A-7471-D499721B5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8D80C942-5E30-6DCC-E79A-72600C3B98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06D5C08F-80B7-EA31-7026-6A0874704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1582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B7B3A55A-9674-53E5-7688-7A8AF76E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8715937A-E926-9165-EE9C-C8AEAF0B2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70F6386E-0FAF-075D-086C-D7B35FC839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00516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34CB08EA-158E-6712-4DF4-099ACB20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43652144-BFE5-F21B-8965-BACB9509B8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B3CEFB36-CDC8-357A-953D-D98FE52219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649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30535FD0-8EC9-12CA-E2F3-5A7F5E3D1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FA241B34-CAF8-BF4B-19AA-26ED9B9160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46C2F244-919D-1D3B-3D96-55C30F8B45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4649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722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359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32385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947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BA091EF7-D209-F010-E2C3-8BCC908D0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067435FB-D6EF-D35F-21C2-DB14F308AF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1FBF058B-300E-FEFA-649E-6D80E27D0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7787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E4F8CFA1-E312-303F-A6DF-40B658CFE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D4325D14-C507-108C-A61A-909EFDC38F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824A20E5-68E5-C521-D736-8F46E4ADCB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37703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B6508787-DE09-B9B3-FE04-616CC8C43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8C17A311-6687-3500-77D1-B01C3EC9E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FB9DF566-77F2-57D2-B8E5-55BC564D0E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5106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3057A097-787C-E7A8-1310-8AB501105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0C118642-C4B5-17B0-D83F-7738CFB48E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D86B2BD5-688F-32A8-58C5-D0F099184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93577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4CB6456C-B185-F81E-17E2-D8FFB558C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4c0f1366_1_62:notes">
            <a:extLst>
              <a:ext uri="{FF2B5EF4-FFF2-40B4-BE49-F238E27FC236}">
                <a16:creationId xmlns:a16="http://schemas.microsoft.com/office/drawing/2014/main" id="{6E61DD54-BC18-024D-10EA-3E99CC251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b64c0f1366_1_62:notes">
            <a:extLst>
              <a:ext uri="{FF2B5EF4-FFF2-40B4-BE49-F238E27FC236}">
                <a16:creationId xmlns:a16="http://schemas.microsoft.com/office/drawing/2014/main" id="{73D85B42-737F-F500-C0E7-2A89A3E1EE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9365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subTitle" idx="1"/>
          </p:nvPr>
        </p:nvSpPr>
        <p:spPr>
          <a:xfrm>
            <a:off x="1287025" y="3465025"/>
            <a:ext cx="6612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200" dirty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Muhammed Elameiry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400" dirty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Senior Data Scientist</a:t>
            </a:r>
            <a:r>
              <a:rPr lang="en-US" sz="1400" dirty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, Banque </a:t>
            </a:r>
            <a:r>
              <a:rPr lang="en-US" sz="1400" dirty="0" err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Misr</a:t>
            </a:r>
            <a:endParaRPr lang="en-US" sz="1400" dirty="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25"/>
          <p:cNvSpPr/>
          <p:nvPr/>
        </p:nvSpPr>
        <p:spPr>
          <a:xfrm>
            <a:off x="874225" y="313475"/>
            <a:ext cx="7438200" cy="13650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42875" dist="85725" dir="4560000" algn="bl" rotWithShape="0">
              <a:srgbClr val="000000">
                <a:alpha val="7568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Unsupervised Machine Learning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achine learning 2</a:t>
            </a:r>
            <a:endParaRPr lang="en-US" b="0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" name="Google Shape;101;p25">
            <a:extLst>
              <a:ext uri="{FF2B5EF4-FFF2-40B4-BE49-F238E27FC236}">
                <a16:creationId xmlns:a16="http://schemas.microsoft.com/office/drawing/2014/main" id="{AFA80D8C-D4ED-5587-77DE-59AC3D9B3B5A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3" name="Google Shape;102;p25">
              <a:extLst>
                <a:ext uri="{FF2B5EF4-FFF2-40B4-BE49-F238E27FC236}">
                  <a16:creationId xmlns:a16="http://schemas.microsoft.com/office/drawing/2014/main" id="{2127A3F2-B78A-D59E-47AE-AAFE8A2EA855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5" name="Google Shape;103;p25">
                <a:extLst>
                  <a:ext uri="{FF2B5EF4-FFF2-40B4-BE49-F238E27FC236}">
                    <a16:creationId xmlns:a16="http://schemas.microsoft.com/office/drawing/2014/main" id="{6BBCC4A8-4740-5524-360D-0AE85443F149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" name="Google Shape;104;p25">
                <a:extLst>
                  <a:ext uri="{FF2B5EF4-FFF2-40B4-BE49-F238E27FC236}">
                    <a16:creationId xmlns:a16="http://schemas.microsoft.com/office/drawing/2014/main" id="{A9952B09-A399-6126-0FBC-8525DB9A8C8F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" name="Google Shape;105;p25">
                <a:extLst>
                  <a:ext uri="{FF2B5EF4-FFF2-40B4-BE49-F238E27FC236}">
                    <a16:creationId xmlns:a16="http://schemas.microsoft.com/office/drawing/2014/main" id="{83CE04E5-7F6B-D2EC-B799-19AB09FDF3EE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4" name="Google Shape;106;p25">
              <a:extLst>
                <a:ext uri="{FF2B5EF4-FFF2-40B4-BE49-F238E27FC236}">
                  <a16:creationId xmlns:a16="http://schemas.microsoft.com/office/drawing/2014/main" id="{2309645F-0EDA-096C-A031-C6C5FED8BFAE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6B685DD-5A72-9DBA-5891-8383B2CDF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986" y="2107399"/>
            <a:ext cx="2696593" cy="11964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2500" dirty="0">
              <a:solidFill>
                <a:srgbClr val="07376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72AC6A-BCEE-2266-549B-03B3DFBF9EDB}"/>
              </a:ext>
            </a:extLst>
          </p:cNvPr>
          <p:cNvSpPr txBox="1"/>
          <p:nvPr/>
        </p:nvSpPr>
        <p:spPr>
          <a:xfrm>
            <a:off x="264409" y="2236611"/>
            <a:ext cx="73629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457200" algn="ctr">
              <a:buSzPts val="2500"/>
              <a:buNone/>
              <a:defRPr sz="2500" b="1">
                <a:solidFill>
                  <a:srgbClr val="07376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Anomaly Detection</a:t>
            </a:r>
          </a:p>
        </p:txBody>
      </p:sp>
      <p:grpSp>
        <p:nvGrpSpPr>
          <p:cNvPr id="2" name="Google Shape;101;p25">
            <a:extLst>
              <a:ext uri="{FF2B5EF4-FFF2-40B4-BE49-F238E27FC236}">
                <a16:creationId xmlns:a16="http://schemas.microsoft.com/office/drawing/2014/main" id="{5074B023-ED2B-7A3B-0669-805B0CC0E899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3" name="Google Shape;102;p25">
              <a:extLst>
                <a:ext uri="{FF2B5EF4-FFF2-40B4-BE49-F238E27FC236}">
                  <a16:creationId xmlns:a16="http://schemas.microsoft.com/office/drawing/2014/main" id="{4742A124-AB3C-A8A8-8CC1-FBAB37C3FE3F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5" name="Google Shape;103;p25">
                <a:extLst>
                  <a:ext uri="{FF2B5EF4-FFF2-40B4-BE49-F238E27FC236}">
                    <a16:creationId xmlns:a16="http://schemas.microsoft.com/office/drawing/2014/main" id="{A4BEF61E-329E-FF5A-57E0-4F82A9480A7B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" name="Google Shape;104;p25">
                <a:extLst>
                  <a:ext uri="{FF2B5EF4-FFF2-40B4-BE49-F238E27FC236}">
                    <a16:creationId xmlns:a16="http://schemas.microsoft.com/office/drawing/2014/main" id="{3A5A9418-6B19-9E45-EB83-67D445B9B8F2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" name="Google Shape;105;p25">
                <a:extLst>
                  <a:ext uri="{FF2B5EF4-FFF2-40B4-BE49-F238E27FC236}">
                    <a16:creationId xmlns:a16="http://schemas.microsoft.com/office/drawing/2014/main" id="{1B21A60E-B254-3B54-7A9F-033C2814892B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4" name="Google Shape;106;p25">
              <a:extLst>
                <a:ext uri="{FF2B5EF4-FFF2-40B4-BE49-F238E27FC236}">
                  <a16:creationId xmlns:a16="http://schemas.microsoft.com/office/drawing/2014/main" id="{1A8DD957-17E7-BE37-317A-1F8D56310D0F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638D87D1-2A17-914E-AB77-E5493B6A06F6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A868D1BA-B5D0-520D-890C-E2D860184BAA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166CDC3B-0B72-BEF6-0F79-DEB90A73EDD6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" name="Google Shape;104;p25">
                <a:extLst>
                  <a:ext uri="{FF2B5EF4-FFF2-40B4-BE49-F238E27FC236}">
                    <a16:creationId xmlns:a16="http://schemas.microsoft.com/office/drawing/2014/main" id="{FAF565E8-78EF-7302-A4A8-C27EE0484363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5;p25">
                <a:extLst>
                  <a:ext uri="{FF2B5EF4-FFF2-40B4-BE49-F238E27FC236}">
                    <a16:creationId xmlns:a16="http://schemas.microsoft.com/office/drawing/2014/main" id="{208E2126-1CA1-B399-82E4-151F234F6804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F82BB2AE-7B40-1C8C-1AA7-A72BFCAAEF8F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40EBCDDA-E6CF-4646-D822-2A63CFEA1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Today’s Agenda</a:t>
            </a:r>
            <a:endParaRPr sz="2800" b="0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585039" y="1423222"/>
            <a:ext cx="5088836" cy="15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3350">
              <a:lnSpc>
                <a:spcPct val="150000"/>
              </a:lnSpc>
              <a:buClr>
                <a:srgbClr val="D33939"/>
              </a:buClr>
              <a:buSzPts val="1500"/>
            </a:pPr>
            <a:endParaRPr lang="en-US" sz="1800" dirty="0">
              <a:latin typeface="Open Sans"/>
              <a:ea typeface="Open Sans"/>
              <a:cs typeface="Open Sans"/>
            </a:endParaRPr>
          </a:p>
          <a:p>
            <a:pPr marL="457200" indent="-323850">
              <a:lnSpc>
                <a:spcPct val="150000"/>
              </a:lnSpc>
              <a:buClr>
                <a:srgbClr val="D33939"/>
              </a:buClr>
              <a:buSzPts val="1500"/>
              <a:buFont typeface="Open Sans"/>
              <a:buChar char="●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/>
                <a:ea typeface="Open Sans"/>
                <a:cs typeface="Open Sans"/>
              </a:rPr>
              <a:t>Anomaly Detection</a:t>
            </a:r>
          </a:p>
          <a:p>
            <a:pPr marL="133350">
              <a:buSzPts val="1500"/>
            </a:pPr>
            <a:r>
              <a:rPr lang="en-US" sz="1600" dirty="0">
                <a:latin typeface="Open Sans"/>
                <a:ea typeface="Open Sans"/>
                <a:cs typeface="Open Sans"/>
              </a:rPr>
              <a:t>	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Local Outlier Factor (LOF)</a:t>
            </a: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Isolation Forest</a:t>
            </a:r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875" y="1300163"/>
            <a:ext cx="241935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6388856-0F47-B4F2-9B98-125113C31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grpSp>
        <p:nvGrpSpPr>
          <p:cNvPr id="3" name="Google Shape;101;p25">
            <a:extLst>
              <a:ext uri="{FF2B5EF4-FFF2-40B4-BE49-F238E27FC236}">
                <a16:creationId xmlns:a16="http://schemas.microsoft.com/office/drawing/2014/main" id="{06848944-9E12-A193-8AF7-8D08B9978A41}"/>
              </a:ext>
            </a:extLst>
          </p:cNvPr>
          <p:cNvGrpSpPr/>
          <p:nvPr/>
        </p:nvGrpSpPr>
        <p:grpSpPr>
          <a:xfrm>
            <a:off x="0" y="4910576"/>
            <a:ext cx="9144000" cy="256838"/>
            <a:chOff x="21825" y="4897525"/>
            <a:chExt cx="9122100" cy="245825"/>
          </a:xfrm>
        </p:grpSpPr>
        <p:grpSp>
          <p:nvGrpSpPr>
            <p:cNvPr id="4" name="Google Shape;102;p25">
              <a:extLst>
                <a:ext uri="{FF2B5EF4-FFF2-40B4-BE49-F238E27FC236}">
                  <a16:creationId xmlns:a16="http://schemas.microsoft.com/office/drawing/2014/main" id="{25C9BAE3-7C10-0041-7684-9EB41F94AEB1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6" name="Google Shape;103;p25">
                <a:extLst>
                  <a:ext uri="{FF2B5EF4-FFF2-40B4-BE49-F238E27FC236}">
                    <a16:creationId xmlns:a16="http://schemas.microsoft.com/office/drawing/2014/main" id="{8EB460F6-7D7C-B743-36E9-859A62ABB846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" name="Google Shape;104;p25">
                <a:extLst>
                  <a:ext uri="{FF2B5EF4-FFF2-40B4-BE49-F238E27FC236}">
                    <a16:creationId xmlns:a16="http://schemas.microsoft.com/office/drawing/2014/main" id="{D8755D52-395E-AA6D-AFB3-0F5FA65B2B4A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" name="Google Shape;105;p25">
                <a:extLst>
                  <a:ext uri="{FF2B5EF4-FFF2-40B4-BE49-F238E27FC236}">
                    <a16:creationId xmlns:a16="http://schemas.microsoft.com/office/drawing/2014/main" id="{250717FD-B779-E6AF-32B2-FFCEA5EFB6F5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5" name="Google Shape;106;p25">
              <a:extLst>
                <a:ext uri="{FF2B5EF4-FFF2-40B4-BE49-F238E27FC236}">
                  <a16:creationId xmlns:a16="http://schemas.microsoft.com/office/drawing/2014/main" id="{8085A213-AE58-5851-A485-13EBE2AC6E00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buSzPts val="2500"/>
            </a:pPr>
            <a:r>
              <a:rPr lang="en-US" sz="2000" dirty="0"/>
              <a:t>Local Outlier Factor (LOF)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88C2E-4D80-0189-8F4F-9EDE20801F50}"/>
              </a:ext>
            </a:extLst>
          </p:cNvPr>
          <p:cNvSpPr txBox="1"/>
          <p:nvPr/>
        </p:nvSpPr>
        <p:spPr>
          <a:xfrm>
            <a:off x="386484" y="1093715"/>
            <a:ext cx="827128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Outlier Factor (LOF) algorithm computes a score (called local outlier factor) reflecting the degree of abnormality of the observations. It measures the local density deviation of a given data point with respect to its neighbors. The idea is to detect the samples that have a substantially lower density than their neighbors.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What problem LOF solves</a:t>
            </a:r>
            <a:br>
              <a:rPr lang="en-US" dirty="0"/>
            </a:br>
            <a:r>
              <a:rPr lang="en-US" dirty="0"/>
              <a:t>LOF addresses the failure of global distance-based methods in datasets where </a:t>
            </a:r>
            <a:r>
              <a:rPr lang="en-US" b="1" dirty="0"/>
              <a:t>normal behavior occurs at different densities</a:t>
            </a:r>
            <a:r>
              <a:rPr lang="en-US" dirty="0"/>
              <a:t> across the feature space.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Type of anomalies detected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Local anomalies</a:t>
            </a:r>
            <a:r>
              <a:rPr lang="en-US" dirty="0"/>
              <a:t>: points that are normal globally but abnormal relative to nearby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designed for purely </a:t>
            </a:r>
            <a:r>
              <a:rPr lang="en-US" b="1" dirty="0"/>
              <a:t>global isolation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Particularly effective in </a:t>
            </a:r>
            <a:r>
              <a:rPr lang="en-US" b="1" dirty="0"/>
              <a:t>varying-density datasets</a:t>
            </a:r>
            <a:endParaRPr lang="en-US" dirty="0"/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790AC127-5F55-6FE1-FE33-008FDC7D3F28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/>
              <a:pPr/>
              <a:t>4</a:t>
            </a:fld>
            <a:endParaRPr lang="x-none" sz="1600" dirty="0"/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40227093-15E2-573E-8132-FB3D092CAC87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79230492-1907-ACBE-B43F-881A09EF77B2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47ED9010-B871-241A-CEE4-1A8AD5B141BA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5384EC57-A766-A373-8AD5-83719DF79C70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74794535-F6E2-E35D-9267-4E4809002CC7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6F2D8276-F962-7B6B-0E72-0EDAC981F1C9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BDD01010-72EF-9D8E-8E38-2CDC9C4A93B1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BE90C1F2-88A8-E2AF-2A01-3BD928723AEB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969D3230-6DCD-54DB-E533-3965E2151FAD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4;p25">
                <a:extLst>
                  <a:ext uri="{FF2B5EF4-FFF2-40B4-BE49-F238E27FC236}">
                    <a16:creationId xmlns:a16="http://schemas.microsoft.com/office/drawing/2014/main" id="{EDED892A-8BE3-B84F-92A0-A72A78C04FA3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5;p25">
                <a:extLst>
                  <a:ext uri="{FF2B5EF4-FFF2-40B4-BE49-F238E27FC236}">
                    <a16:creationId xmlns:a16="http://schemas.microsoft.com/office/drawing/2014/main" id="{E293B617-E5F8-91F2-3534-AFD9B8CB3967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0EABAD4B-5F98-23BF-9F3A-52E79CB251B4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49B2C8F6-8DAB-0021-926C-43D0AA929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9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Why Distance Alone Is Not Enough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88C2E-4D80-0189-8F4F-9EDE20801F50}"/>
              </a:ext>
            </a:extLst>
          </p:cNvPr>
          <p:cNvSpPr txBox="1"/>
          <p:nvPr/>
        </p:nvSpPr>
        <p:spPr>
          <a:xfrm>
            <a:off x="703943" y="934647"/>
            <a:ext cx="771160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Distance-based anomaly detection assumption</a:t>
            </a:r>
            <a:br>
              <a:rPr lang="en-US" dirty="0"/>
            </a:br>
            <a:r>
              <a:rPr lang="en-US" dirty="0"/>
              <a:t>Points that are far from most other points are anomalies.</a:t>
            </a:r>
          </a:p>
          <a:p>
            <a:endParaRPr lang="en-US" dirty="0"/>
          </a:p>
          <a:p>
            <a:r>
              <a:rPr lang="en-US" b="1" dirty="0"/>
              <a:t>Why this fails</a:t>
            </a:r>
            <a:endParaRPr lang="en-US" dirty="0"/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dirty="0"/>
              <a:t>Real datasets often contain: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Dense clusters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dirty="0"/>
              <a:t>Sparse clusters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Gradual density changes</a:t>
            </a:r>
          </a:p>
          <a:p>
            <a:pPr lvl="4"/>
            <a:r>
              <a:rPr lang="en-US" dirty="0"/>
              <a:t>A point in a sparse cluster may be far from others but still </a:t>
            </a:r>
            <a:r>
              <a:rPr lang="en-US" b="1" dirty="0"/>
              <a:t>locally normal</a:t>
            </a:r>
          </a:p>
          <a:p>
            <a:endParaRPr lang="en-US" dirty="0"/>
          </a:p>
          <a:p>
            <a:r>
              <a:rPr lang="en-US" b="1" dirty="0"/>
              <a:t>Core limitation</a:t>
            </a:r>
            <a:br>
              <a:rPr lang="en-US" dirty="0"/>
            </a:br>
            <a:r>
              <a:rPr lang="en-US" dirty="0"/>
              <a:t>Global distance ignores </a:t>
            </a:r>
            <a:r>
              <a:rPr lang="en-US" b="1" dirty="0"/>
              <a:t>local context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Key contrast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Global distance: </a:t>
            </a:r>
            <a:r>
              <a:rPr lang="en-US" i="1" dirty="0"/>
              <a:t>How far am I from everyone?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density: </a:t>
            </a:r>
            <a:r>
              <a:rPr lang="en-US" i="1" dirty="0"/>
              <a:t>How crowded am I compared to my neighbors?</a:t>
            </a:r>
            <a:endParaRPr lang="en-US" dirty="0"/>
          </a:p>
          <a:p>
            <a:r>
              <a:rPr lang="en-US" dirty="0"/>
              <a:t>LOF adopts the second perspective.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790AC127-5F55-6FE1-FE33-008FDC7D3F28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/>
              <a:pPr/>
              <a:t>5</a:t>
            </a:fld>
            <a:endParaRPr lang="x-none" sz="1600" dirty="0"/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C759775B-B9F9-21C0-315C-D6EF2D6FAB30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1E7E0851-DE58-1D38-F03C-549939EFAD8B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9E40B83C-5987-840A-37E9-59D7F880B651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7A704B98-6C89-79D7-CCBA-86E484694E56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D78E61D9-DD1E-34CD-188A-3F683CEF26FB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D2193753-07E9-A405-1BA1-9BE2C54D4316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D5571E7E-6145-7651-29D2-47368A165988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35923EC8-844F-FFB9-E595-39521C5046D8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05E9BD1C-E034-1215-918C-3B8FC3FAE733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4;p25">
                <a:extLst>
                  <a:ext uri="{FF2B5EF4-FFF2-40B4-BE49-F238E27FC236}">
                    <a16:creationId xmlns:a16="http://schemas.microsoft.com/office/drawing/2014/main" id="{C1489BA0-FC14-79A6-90DC-BFAD90AB8BBF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5;p25">
                <a:extLst>
                  <a:ext uri="{FF2B5EF4-FFF2-40B4-BE49-F238E27FC236}">
                    <a16:creationId xmlns:a16="http://schemas.microsoft.com/office/drawing/2014/main" id="{BF9EBCFF-4B64-CEB3-F1A6-2003F825B2C0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2A947245-2C83-7F8C-20C1-A82BCC7DDD28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DE1D9AE-80F8-F99B-B80C-B80A19037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7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3ED1CC21-E645-064B-777E-D44B7F7D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1FA26995-3E78-5636-2826-042E57DE5ACC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D83E776-58E3-44B7-AD85-33E86B329A1D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/>
              <a:pPr/>
              <a:t>6</a:t>
            </a:fld>
            <a:endParaRPr lang="x-none" sz="1600" dirty="0"/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856575B9-0FC7-E927-142E-B54E438F7DF9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7764A053-0523-C710-A30C-7D9C5789AEE1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D8DE806A-1612-80DB-0FC9-B214551D16D2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046ABB23-72F6-09D9-587B-F57F99D1D333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15ACF3B5-897B-7051-4659-7A99032B491D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29396E7F-6DC6-EC6A-5254-3E6610567B20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8CE92AE6-99F5-0098-ADCA-E764FD6D87B5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9ED94EEA-DAC5-00C5-7F1C-056799851B2E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ADBE75A6-5B76-AD7A-13A9-5AFBE499924C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4;p25">
                <a:extLst>
                  <a:ext uri="{FF2B5EF4-FFF2-40B4-BE49-F238E27FC236}">
                    <a16:creationId xmlns:a16="http://schemas.microsoft.com/office/drawing/2014/main" id="{50650192-6BAF-2381-2AB3-140E67327189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5;p25">
                <a:extLst>
                  <a:ext uri="{FF2B5EF4-FFF2-40B4-BE49-F238E27FC236}">
                    <a16:creationId xmlns:a16="http://schemas.microsoft.com/office/drawing/2014/main" id="{43CDC276-B0C0-C572-F16C-E41F2F596798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AE2AFEB5-6ABA-0DEC-BB39-DECB28AE9E3F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E00146A6-7833-F5F2-4569-FCC713DAB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1026" name="Picture 2" descr="Local Outlier Factor (LOF)">
            <a:extLst>
              <a:ext uri="{FF2B5EF4-FFF2-40B4-BE49-F238E27FC236}">
                <a16:creationId xmlns:a16="http://schemas.microsoft.com/office/drawing/2014/main" id="{91C6F90B-0182-6072-F05D-1EE5A1990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036" y="33140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225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buSzPts val="2500"/>
            </a:pPr>
            <a:r>
              <a:rPr lang="en-US" sz="2000" dirty="0"/>
              <a:t>Step-by-Step LOF Algorithm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Google Shape;655;p34">
            <a:extLst>
              <a:ext uri="{FF2B5EF4-FFF2-40B4-BE49-F238E27FC236}">
                <a16:creationId xmlns:a16="http://schemas.microsoft.com/office/drawing/2014/main" id="{EB240643-179C-F222-31BC-BECA14F9FD0C}"/>
              </a:ext>
            </a:extLst>
          </p:cNvPr>
          <p:cNvSpPr txBox="1">
            <a:spLocks/>
          </p:cNvSpPr>
          <p:nvPr/>
        </p:nvSpPr>
        <p:spPr>
          <a:xfrm>
            <a:off x="519792" y="1011751"/>
            <a:ext cx="8115325" cy="3119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600" b="1" dirty="0">
              <a:solidFill>
                <a:srgbClr val="D33939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8" name="Google Shape;101;p25">
            <a:extLst>
              <a:ext uri="{FF2B5EF4-FFF2-40B4-BE49-F238E27FC236}">
                <a16:creationId xmlns:a16="http://schemas.microsoft.com/office/drawing/2014/main" id="{82F69754-D03B-227B-F1CA-04B9EE486C56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9" name="Google Shape;102;p25">
              <a:extLst>
                <a:ext uri="{FF2B5EF4-FFF2-40B4-BE49-F238E27FC236}">
                  <a16:creationId xmlns:a16="http://schemas.microsoft.com/office/drawing/2014/main" id="{886C3BE4-B491-9482-571F-F828B6735C77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C308E1BF-8DE4-5343-C6BD-2CE72343EC86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63C10A46-8679-3DCB-8682-1DEA86747E9D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B9BF9843-3886-9C52-5966-B84A1C34A0E2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0" name="Google Shape;106;p25">
              <a:extLst>
                <a:ext uri="{FF2B5EF4-FFF2-40B4-BE49-F238E27FC236}">
                  <a16:creationId xmlns:a16="http://schemas.microsoft.com/office/drawing/2014/main" id="{6599A42E-6C64-26D8-B76F-C80982E44BA2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E37F4CCE-A5AB-42EA-A914-C85503ED0FB1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DFB20BA0-51BB-9085-6854-28C2A1F01CE8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92C10690-DA0E-CF0E-8AC2-550DEA44BC11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" name="Google Shape;104;p25">
                <a:extLst>
                  <a:ext uri="{FF2B5EF4-FFF2-40B4-BE49-F238E27FC236}">
                    <a16:creationId xmlns:a16="http://schemas.microsoft.com/office/drawing/2014/main" id="{4B390746-409F-2429-ECB2-75E562B4D61B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5;p25">
                <a:extLst>
                  <a:ext uri="{FF2B5EF4-FFF2-40B4-BE49-F238E27FC236}">
                    <a16:creationId xmlns:a16="http://schemas.microsoft.com/office/drawing/2014/main" id="{F4566F53-E591-A648-AF4A-A48E15F1701E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0A792F60-C352-89D8-7806-F22662B8E9F2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BE263546-B3D4-4D9E-F6AE-5139F6C78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523465-F52D-D249-409C-9C8C34C237DF}"/>
                  </a:ext>
                </a:extLst>
              </p:cNvPr>
              <p:cNvSpPr txBox="1"/>
              <p:nvPr/>
            </p:nvSpPr>
            <p:spPr>
              <a:xfrm>
                <a:off x="276446" y="1232921"/>
                <a:ext cx="3941135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200" dirty="0"/>
                  <a:t>For each data point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:</a:t>
                </a:r>
              </a:p>
              <a:p>
                <a:pPr>
                  <a:buNone/>
                </a:pPr>
                <a:r>
                  <a:rPr lang="en-US" sz="1200" b="1" dirty="0"/>
                  <a:t>Step 1 — k-Nearest Neighbors</a:t>
                </a:r>
              </a:p>
              <a:p>
                <a:pPr>
                  <a:buNone/>
                </a:pPr>
                <a:r>
                  <a:rPr lang="en-US" sz="1200" dirty="0"/>
                  <a:t>Identify 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EG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EG" sz="1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EG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EG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ar-EG" sz="1200" dirty="0"/>
              </a:p>
              <a:p>
                <a:pPr>
                  <a:buNone/>
                </a:pPr>
                <a:r>
                  <a:rPr lang="en-US" sz="1200" b="1" dirty="0"/>
                  <a:t>Step 2 — k-distance</a:t>
                </a:r>
                <a:endParaRPr lang="en-US" sz="12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200" dirty="0"/>
                  <a:t>Compute the distance from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to its k-</a:t>
                </a:r>
                <a:r>
                  <a:rPr lang="en-US" sz="1200" dirty="0" err="1"/>
                  <a:t>th</a:t>
                </a:r>
                <a:r>
                  <a:rPr lang="en-US" sz="1200" dirty="0"/>
                  <a:t> nearest neighbor</a:t>
                </a:r>
              </a:p>
              <a:p>
                <a:pPr>
                  <a:buNone/>
                </a:pPr>
                <a:r>
                  <a:rPr lang="en-US" sz="1200" b="1" dirty="0"/>
                  <a:t>Step 3 — Reachability Distance</a:t>
                </a:r>
                <a:endParaRPr lang="en-US" sz="12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200" dirty="0"/>
                  <a:t>Stabilize distances using neighbors’ local scale</a:t>
                </a:r>
              </a:p>
              <a:p>
                <a:pPr>
                  <a:buNone/>
                </a:pPr>
                <a:r>
                  <a:rPr lang="en-US" sz="1200" b="1" dirty="0"/>
                  <a:t>Step 4 — Local Reachability Density (LRD)</a:t>
                </a:r>
                <a:endParaRPr lang="en-US" sz="12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200" dirty="0"/>
                  <a:t>Convert reachability distances into a local density estimate</a:t>
                </a:r>
              </a:p>
              <a:p>
                <a:pPr>
                  <a:buNone/>
                </a:pPr>
                <a:r>
                  <a:rPr lang="en-US" sz="1200" b="1" dirty="0"/>
                  <a:t>Step 5 — LOF Score</a:t>
                </a:r>
                <a:endParaRPr lang="en-US" sz="12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200" dirty="0"/>
                  <a:t>Compare the density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to the average density of its neighbors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523465-F52D-D249-409C-9C8C34C23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46" y="1232921"/>
                <a:ext cx="3941135" cy="2677656"/>
              </a:xfrm>
              <a:prstGeom prst="rect">
                <a:avLst/>
              </a:prstGeom>
              <a:blipFill>
                <a:blip r:embed="rId4"/>
                <a:stretch>
                  <a:fillRect t="-228" b="-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2CE2205-F866-77F2-F02D-58AA5D21B0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140"/>
          <a:stretch>
            <a:fillRect/>
          </a:stretch>
        </p:blipFill>
        <p:spPr>
          <a:xfrm>
            <a:off x="4532517" y="849032"/>
            <a:ext cx="4234129" cy="382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4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8" name="Google Shape;188;p28"/>
              <p:cNvSpPr/>
              <p:nvPr/>
            </p:nvSpPr>
            <p:spPr>
              <a:xfrm>
                <a:off x="0" y="0"/>
                <a:ext cx="9144000" cy="6330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indent="457200">
                  <a:buSzPts val="2500"/>
                </a:pPr>
                <a:r>
                  <a:rPr lang="en-US" sz="2000" dirty="0"/>
                  <a:t>What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lang="en-US" sz="2000" i="1"/>
                      <m:t>−</m:t>
                    </m:r>
                    <m:r>
                      <m:rPr>
                        <m:nor/>
                      </m:rPr>
                      <a:rPr lang="en-US" sz="2000" i="1"/>
                      <m:t>distance</m:t>
                    </m:r>
                    <m:d>
                      <m:dPr>
                        <m:ctrlPr>
                          <a:rPr lang="ar-E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EG" sz="200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ar-EG" sz="2000" dirty="0"/>
                  <a:t>?</a:t>
                </a:r>
                <a:endPara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Open Sans"/>
                </a:endParaRPr>
              </a:p>
            </p:txBody>
          </p:sp>
        </mc:Choice>
        <mc:Fallback>
          <p:sp>
            <p:nvSpPr>
              <p:cNvPr id="188" name="Google Shape;188;p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63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790AC127-5F55-6FE1-FE33-008FDC7D3F28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8</a:t>
            </a:fld>
            <a:endParaRPr lang="x-none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F3B8FFC6-9ABD-6951-CB36-66E0561E0080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A853F8FE-B3DF-72AF-7A26-D72A1DD93A3D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592BA172-4F3C-669E-F73D-129F4F57C181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794C2300-CEB5-FD5E-33DB-69FC43D11A7C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80712EEB-E76A-BDAC-BE83-93A69B50F1CB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8BDD1237-C47C-8C10-9A66-066AB0C6BB41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2390BD5E-1093-B641-4307-2FA62795966C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00EF6D3E-9805-907D-40AA-830D3C70CFE8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69579CC3-BFF3-C85F-385D-7756FDFE1728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4;p25">
                <a:extLst>
                  <a:ext uri="{FF2B5EF4-FFF2-40B4-BE49-F238E27FC236}">
                    <a16:creationId xmlns:a16="http://schemas.microsoft.com/office/drawing/2014/main" id="{35C4BC5B-C6B1-3C82-7B4E-10C1A6313ED7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5;p25">
                <a:extLst>
                  <a:ext uri="{FF2B5EF4-FFF2-40B4-BE49-F238E27FC236}">
                    <a16:creationId xmlns:a16="http://schemas.microsoft.com/office/drawing/2014/main" id="{F21DB213-5D6C-8833-BB3A-D2FB41709112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826C4876-197A-78A8-8477-41DBB23BDBB9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27B00D95-DE36-B45E-7E70-394E73470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4F74F7-3C57-BCC9-A678-0E37E2959F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00" y="844175"/>
            <a:ext cx="7576457" cy="383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58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62084EE4-8F78-1FEA-431B-B5D2862A1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51111A23-689A-BE29-E41F-3AA66B45DBE9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buSzPts val="2500"/>
            </a:pPr>
            <a:r>
              <a:rPr lang="en-US" sz="2000" dirty="0"/>
              <a:t>What is Reachability Distance?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D24B8DA4-F79C-EFD9-F6C5-25D916A846D8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9</a:t>
            </a:fld>
            <a:endParaRPr lang="x-none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DFB738D3-D5DF-399E-A7E4-3010986F70D2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99C65070-4649-24D1-061B-97EE639BC03C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0A52F146-2D58-2025-3E5F-049FD2333937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9EF4B9DB-2580-A9C1-0F61-5A5FC52438BD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9935A883-33E6-7200-496A-B8B7D2462564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B3EB17A0-3423-244A-F60A-27D0A1F945D2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D100F204-B16F-07F5-4158-3EF6DF326E7F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2D8C9615-C514-FADA-5058-88B428214168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F122D668-267E-6F5D-0D72-BF392312226D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4;p25">
                <a:extLst>
                  <a:ext uri="{FF2B5EF4-FFF2-40B4-BE49-F238E27FC236}">
                    <a16:creationId xmlns:a16="http://schemas.microsoft.com/office/drawing/2014/main" id="{1F3853DD-CD31-21FB-580F-E3D4BD1F1F67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5;p25">
                <a:extLst>
                  <a:ext uri="{FF2B5EF4-FFF2-40B4-BE49-F238E27FC236}">
                    <a16:creationId xmlns:a16="http://schemas.microsoft.com/office/drawing/2014/main" id="{D3CD8407-7ED9-09E7-8E57-54758A6CFB03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ABC72192-2101-7FF8-E309-26D8F7FE6902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EC1A3493-85C4-9E48-D189-A19A3AD90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C04DFC-D44B-15D5-24FD-DF45BA7CC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" y="810603"/>
            <a:ext cx="7383630" cy="400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51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04F064A7-B03F-8264-BB5D-B6A3F679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9F895E9A-3C1C-542C-9C0E-0075F1038C0A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Why We Take the MAX in Reachability Distance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51FAD848-20CA-0E46-5035-7EF92CA91F60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10</a:t>
            </a:fld>
            <a:endParaRPr lang="x-none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5C8013-2D73-4391-0F6E-2A141757696F}"/>
                  </a:ext>
                </a:extLst>
              </p:cNvPr>
              <p:cNvSpPr txBox="1"/>
              <p:nvPr/>
            </p:nvSpPr>
            <p:spPr>
              <a:xfrm>
                <a:off x="346804" y="1231523"/>
                <a:ext cx="4021997" cy="3161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Case 1: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sepChr m:val=","/>
                        <m:ctrlPr>
                          <a:rPr lang="ar-E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EG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EG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d>
                    <m:r>
                      <a:rPr lang="ar-EG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EG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lang="ar-EG" b="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b="0" i="1">
                        <a:latin typeface="Cambria Math" panose="02040503050406030204" pitchFamily="18" charset="0"/>
                      </a:rPr>
                      <m:t>distance</m:t>
                    </m:r>
                    <m:d>
                      <m:dPr>
                        <m:ctrlPr>
                          <a:rPr lang="ar-EG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EG" b="0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d>
                  </m:oMath>
                </a14:m>
                <a:endParaRPr lang="en-US" b="1" dirty="0"/>
              </a:p>
              <a:p>
                <a:pPr>
                  <a:buNone/>
                </a:pPr>
                <a:endParaRPr lang="ar-EG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EG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/>
                            <m:t>reach</m:t>
                          </m:r>
                          <m:r>
                            <m:rPr>
                              <m:nor/>
                            </m:rPr>
                            <a:rPr lang="en-US" b="0"/>
                            <m:t>−</m:t>
                          </m:r>
                          <m:r>
                            <m:rPr>
                              <m:nor/>
                            </m:rPr>
                            <a:rPr lang="en-US" b="0"/>
                            <m:t>dist</m:t>
                          </m:r>
                        </m:e>
                        <m:sub>
                          <m:r>
                            <a:rPr lang="ar-EG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EG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EG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EG" b="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  <m:r>
                        <a:rPr lang="ar-EG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EG" b="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nor/>
                        </m:rPr>
                        <a:rPr lang="ar-EG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b="0" i="1">
                          <a:latin typeface="Cambria Math" panose="02040503050406030204" pitchFamily="18" charset="0"/>
                        </a:rPr>
                        <m:t>distance</m:t>
                      </m:r>
                      <m:d>
                        <m:dPr>
                          <m:ctrlPr>
                            <a:rPr lang="ar-EG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EG" b="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>
                  <a:buNone/>
                </a:pPr>
                <a:endParaRPr lang="ar-EG" b="0" dirty="0"/>
              </a:p>
              <a:p>
                <a:pPr>
                  <a:buNone/>
                </a:pPr>
                <a:r>
                  <a:rPr lang="en-US" b="1" dirty="0"/>
                  <a:t>Meaning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Even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is very close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/>
                  <a:t>, we treat the distance as at least the typical spacing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/>
                  <a:t>’s neighborhood.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None/>
                </a:pPr>
                <a:r>
                  <a:rPr lang="en-US" b="1" dirty="0"/>
                  <a:t>Why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Prevents artificially small distances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Avoids unrealistically high density estimates</a:t>
                </a:r>
              </a:p>
              <a:p>
                <a:pPr>
                  <a:buNone/>
                </a:pP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5C8013-2D73-4391-0F6E-2A1417576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04" y="1231523"/>
                <a:ext cx="4021997" cy="3161122"/>
              </a:xfrm>
              <a:prstGeom prst="rect">
                <a:avLst/>
              </a:prstGeom>
              <a:blipFill>
                <a:blip r:embed="rId3"/>
                <a:stretch>
                  <a:fillRect l="-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937C3AEF-44C3-FB59-1D90-38B0D7B90DAF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79803000-C365-D802-91B7-ACA4246606EE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78F2B101-1B21-EE15-FA3C-F6EFBE4DAB8F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EBAACFDE-50C7-BB2C-5C02-58A8405536FA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9F3A66E1-45C6-4A1D-1E49-68FB94237F94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AD0EB2F8-1EDC-F479-D00A-87A3F0FAA4FE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687CF6DA-FCCC-FE63-5BE2-B4073C7091B2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C8E1FF53-A1F2-F7FF-9E44-C6755515E17C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1F1951E0-4937-FF7E-2FB5-89E5FD3D96D2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4;p25">
                <a:extLst>
                  <a:ext uri="{FF2B5EF4-FFF2-40B4-BE49-F238E27FC236}">
                    <a16:creationId xmlns:a16="http://schemas.microsoft.com/office/drawing/2014/main" id="{6EADE9CF-059A-ACD5-4317-75B16E73A038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5;p25">
                <a:extLst>
                  <a:ext uri="{FF2B5EF4-FFF2-40B4-BE49-F238E27FC236}">
                    <a16:creationId xmlns:a16="http://schemas.microsoft.com/office/drawing/2014/main" id="{E639C4DA-FA51-1A14-9859-E248A747E3AF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857F8218-1B5C-BCF5-A8E9-02AF43B8B9F7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BAFC9B9D-095B-E5EB-D8B7-26CE9134E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453B48-4F62-A140-03BF-E42257EF574F}"/>
                  </a:ext>
                </a:extLst>
              </p:cNvPr>
              <p:cNvSpPr txBox="1"/>
              <p:nvPr/>
            </p:nvSpPr>
            <p:spPr>
              <a:xfrm>
                <a:off x="4644571" y="951034"/>
                <a:ext cx="3967842" cy="3350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dirty="0"/>
                  <a:t>Case 2: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sepChr m:val=","/>
                        <m:ctrlPr>
                          <a:rPr lang="ar-E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EG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EG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d>
                    <m:r>
                      <a:rPr lang="ar-EG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EG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lang="ar-EG" b="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b="0" i="1">
                        <a:latin typeface="Cambria Math" panose="02040503050406030204" pitchFamily="18" charset="0"/>
                      </a:rPr>
                      <m:t>distance</m:t>
                    </m:r>
                    <m:d>
                      <m:dPr>
                        <m:ctrlPr>
                          <a:rPr lang="ar-EG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EG" b="0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d>
                  </m:oMath>
                </a14:m>
                <a:endParaRPr lang="en-US" b="1" dirty="0"/>
              </a:p>
              <a:p>
                <a:pPr>
                  <a:buNone/>
                </a:pPr>
                <a:endParaRPr lang="ar-EG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EG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/>
                            <m:t>reach</m:t>
                          </m:r>
                          <m:r>
                            <m:rPr>
                              <m:nor/>
                            </m:rPr>
                            <a:rPr lang="en-US" b="0"/>
                            <m:t>−</m:t>
                          </m:r>
                          <m:r>
                            <m:rPr>
                              <m:nor/>
                            </m:rPr>
                            <a:rPr lang="en-US" b="0"/>
                            <m:t>dist</m:t>
                          </m:r>
                        </m:e>
                        <m:sub>
                          <m:r>
                            <a:rPr lang="ar-EG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EG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EG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EG" b="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  <m:r>
                        <a:rPr lang="ar-EG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EG" b="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sepChr m:val=","/>
                          <m:ctrlPr>
                            <a:rPr lang="ar-EG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EG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EG" b="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>
                  <a:buNone/>
                </a:pPr>
                <a:endParaRPr lang="ar-EG" b="0" dirty="0"/>
              </a:p>
              <a:p>
                <a:pPr>
                  <a:buNone/>
                </a:pPr>
                <a:r>
                  <a:rPr lang="en-US" b="1" dirty="0"/>
                  <a:t>Meaning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True separation is preserved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 smoothing when points are genuinely far apart</a:t>
                </a:r>
              </a:p>
              <a:p>
                <a:pPr>
                  <a:buNone/>
                </a:pPr>
                <a:br>
                  <a:rPr lang="en-US" dirty="0"/>
                </a:br>
                <a:endParaRPr lang="en-US" dirty="0"/>
              </a:p>
              <a:p>
                <a:pPr>
                  <a:buNone/>
                </a:pPr>
                <a:r>
                  <a:rPr lang="en-US" b="1" dirty="0"/>
                  <a:t>Overall effect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Stabilizes density estimation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Makes LOF robust across regions with different densities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453B48-4F62-A140-03BF-E42257EF5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571" y="951034"/>
                <a:ext cx="3967842" cy="3350276"/>
              </a:xfrm>
              <a:prstGeom prst="rect">
                <a:avLst/>
              </a:prstGeom>
              <a:blipFill>
                <a:blip r:embed="rId5"/>
                <a:stretch>
                  <a:fillRect l="-461" r="-614" b="-1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C6476E-2F8C-BF94-5C9F-26DAE0EE4445}"/>
              </a:ext>
            </a:extLst>
          </p:cNvPr>
          <p:cNvCxnSpPr/>
          <p:nvPr/>
        </p:nvCxnSpPr>
        <p:spPr>
          <a:xfrm>
            <a:off x="4390573" y="951034"/>
            <a:ext cx="0" cy="388257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321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B9988339-B6C4-B68D-047C-CD0E325B9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0E720602-4F01-1403-7BC3-5A9228A7C97C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buSzPts val="2500"/>
            </a:pPr>
            <a:r>
              <a:rPr lang="en-US" sz="2000" dirty="0"/>
              <a:t>Local Reachability Density (LRD)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7A6E2B84-6F05-8201-7F82-F4B5F65EB90B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11</a:t>
            </a:fld>
            <a:endParaRPr lang="x-none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2EA60ED7-6676-7D4A-DC13-557B0CD04E23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BCE7009A-1F13-56DD-DFF8-0724581463C2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6385837B-18C7-03E7-5AD5-45109BACAA6F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7B37FFC0-D71F-8006-D861-D2EDD56A2492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A136EA77-949A-33CF-807C-F9868108CAC6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C24BB5B9-677E-60C1-BCBB-77612910E667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D3699951-19EF-AAF7-6576-59152F214B8A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7182EB3E-5A3B-0166-7FF1-510930F12E8B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799B4550-8AD7-3597-6C50-AEF494BE7E16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4;p25">
                <a:extLst>
                  <a:ext uri="{FF2B5EF4-FFF2-40B4-BE49-F238E27FC236}">
                    <a16:creationId xmlns:a16="http://schemas.microsoft.com/office/drawing/2014/main" id="{ADF5B422-71A8-FF9C-7E3E-7F9D137051FF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5;p25">
                <a:extLst>
                  <a:ext uri="{FF2B5EF4-FFF2-40B4-BE49-F238E27FC236}">
                    <a16:creationId xmlns:a16="http://schemas.microsoft.com/office/drawing/2014/main" id="{0945945B-C714-DB85-4E75-01659B0C4215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A086FF5C-5577-5ACD-B5BC-D3B02DFF36A9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3F0B2158-7859-2A98-3643-925D0045E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ABA665-3029-ACA7-51D2-E51FDD84F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14" y="790469"/>
            <a:ext cx="6984716" cy="409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12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1E9A66E3-3D71-34A8-79A8-49C80B905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622F1385-0DF9-7902-A49C-294C1F837E76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buSzPts val="2500"/>
            </a:pPr>
            <a:r>
              <a:rPr lang="en-US" sz="2000" dirty="0"/>
              <a:t>What is Reachability Distance?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0A30D32-2DFE-7791-E92F-C1F4D92696DF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12</a:t>
            </a:fld>
            <a:endParaRPr lang="x-none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80DB2623-73F7-A1AD-01C4-7BD2C421328D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19F791A3-0728-CC5A-49AA-67678DEB57DC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8A3B0242-F3A0-6D2E-632D-09CA62012A0B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26EB4FD1-2720-AA84-D082-367A9995A7CE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829E9408-F873-0B09-A9EA-22A4A10AE4D5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C9E8571A-92B8-05A5-C1FA-785657CAC28F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6098C27E-715E-4E03-4466-9C3FAFE9619F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F72724E5-4D1C-3AD4-652A-FF6BA8768397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03B18CB0-973A-2883-ABAA-7304C173B73F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4;p25">
                <a:extLst>
                  <a:ext uri="{FF2B5EF4-FFF2-40B4-BE49-F238E27FC236}">
                    <a16:creationId xmlns:a16="http://schemas.microsoft.com/office/drawing/2014/main" id="{BFDB734E-92FA-70F5-4023-A0F794D5EC23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5;p25">
                <a:extLst>
                  <a:ext uri="{FF2B5EF4-FFF2-40B4-BE49-F238E27FC236}">
                    <a16:creationId xmlns:a16="http://schemas.microsoft.com/office/drawing/2014/main" id="{ACBD3AED-AD8B-3EC6-4348-5FF897C6372A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E118298A-EEFF-B9C5-D141-3D335C6486A4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5840FD6-2036-105D-13DF-95FD48065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B38C17-0321-CCA9-8885-06A83DA70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85" y="662809"/>
            <a:ext cx="7647622" cy="4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46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A7D58368-1B4F-BF6A-D701-DBB5A101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DE65C4EB-524E-127F-9C10-7063C2B6B1EB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buSzPts val="2500"/>
            </a:pPr>
            <a:r>
              <a:rPr lang="en-US" sz="2000" dirty="0"/>
              <a:t>Worked Numerical Example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E6AF9FB3-AF70-2381-5C0E-17C4E704B49E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13</a:t>
            </a:fld>
            <a:endParaRPr lang="x-none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0A373B80-D3EE-80ED-7392-10001E966B1D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C7286703-DD25-3D7F-BE95-BA3B6824E01C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75831132-6794-A7C7-B540-E34A317634C1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B1322A29-A32A-BAFB-098E-4712431CAF3B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584A355F-86E6-EF88-7CD4-FAFD26EDFA5E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4495DAD7-72FB-EC86-8327-A1B045A47734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29489E69-2487-EF4D-2205-A03123B39F6E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67D52399-C472-1469-EA0F-9D9BE927FB18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A1A827C9-C70B-073E-269C-A1FF0F8034C5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4;p25">
                <a:extLst>
                  <a:ext uri="{FF2B5EF4-FFF2-40B4-BE49-F238E27FC236}">
                    <a16:creationId xmlns:a16="http://schemas.microsoft.com/office/drawing/2014/main" id="{93C30318-095B-09D6-8005-FE4718D72C7A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5;p25">
                <a:extLst>
                  <a:ext uri="{FF2B5EF4-FFF2-40B4-BE49-F238E27FC236}">
                    <a16:creationId xmlns:a16="http://schemas.microsoft.com/office/drawing/2014/main" id="{9BEF82EC-D632-47A7-D2C4-05E3A6859CB0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F68C0F88-C224-4169-2568-632E910A5C08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8CAF735F-0627-B004-2708-04C607D9D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F4578C-8B8A-D4D0-389B-43971B75D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7232"/>
            <a:ext cx="9144000" cy="338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53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ECC236A2-813F-2509-BE90-ED04CEF38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6388AE7E-69D5-002B-E4AD-A2053CDCF0B4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buSzPts val="2500"/>
            </a:pPr>
            <a:r>
              <a:rPr lang="en-US" sz="2000" dirty="0"/>
              <a:t>Worked Numerical Example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18E29969-DB0C-0267-E2B6-93707E474DD4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14</a:t>
            </a:fld>
            <a:endParaRPr lang="x-none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FA5E0B40-E801-9A5B-EC68-FAEBDFFFF3EE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DDA6171A-A484-2764-5C07-74B116873F43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46A6B21B-706E-C2F0-12E0-36D349DDFD32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D0ADD08E-DE58-2BF8-358E-1086E878E06E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C418BACF-32B9-4C57-4F1A-974627899F70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BA6F924C-5746-0571-E0F5-0AC054019FA9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6AEB8C64-6BE1-CEAC-D9D2-B76555776176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D0B8DFDA-2D38-EE3E-E4CE-0AAA7AC4E9E2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150079FC-0D19-D526-2BA1-9AC5F53C4AD7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4;p25">
                <a:extLst>
                  <a:ext uri="{FF2B5EF4-FFF2-40B4-BE49-F238E27FC236}">
                    <a16:creationId xmlns:a16="http://schemas.microsoft.com/office/drawing/2014/main" id="{47CD6C26-ACDB-206F-FB0B-294F7E30D0E3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5;p25">
                <a:extLst>
                  <a:ext uri="{FF2B5EF4-FFF2-40B4-BE49-F238E27FC236}">
                    <a16:creationId xmlns:a16="http://schemas.microsoft.com/office/drawing/2014/main" id="{ACD96D0D-C437-2EDF-608F-4C326C693253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BA030F5F-0BF2-7B6A-8727-D7E94711E116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44EB8F2-1B59-4695-BF68-B2023A59A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268463-68E6-A495-537C-941A7063F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71" y="868541"/>
            <a:ext cx="8483600" cy="340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37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21EA740C-396D-5938-0FA1-BC0611C8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9290AEB9-A8D0-AA45-6AAC-85C8AECB9016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buSzPts val="2500"/>
            </a:pPr>
            <a:r>
              <a:rPr lang="en-US" sz="2000" dirty="0"/>
              <a:t>Worked Numerical Example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52BBC344-4AEB-C429-4227-0E3DC1666B7B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15</a:t>
            </a:fld>
            <a:endParaRPr lang="x-none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1B47FD50-6F9E-830C-A18A-62EEDD8E2D1E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42373034-54BE-4214-F9B0-21BACC323298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C5480BD3-9E5D-003B-0025-53E175A2405F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80868F0E-F967-8924-A6E7-78552EC0299D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4A7B96D2-D42C-33C4-904B-CB067D84AD9B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24DCC63E-40AB-5801-1314-F7E1AC1F52C7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C34DAA89-54E3-BC00-CDE4-F7E3D9E94994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21C5C981-805C-B874-CF3B-03831D0E49D2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4A2D7CE6-A1F4-96EC-234C-5F12654A8427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4;p25">
                <a:extLst>
                  <a:ext uri="{FF2B5EF4-FFF2-40B4-BE49-F238E27FC236}">
                    <a16:creationId xmlns:a16="http://schemas.microsoft.com/office/drawing/2014/main" id="{6921FEA1-A343-492C-F9EF-5F86C400C6C0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5;p25">
                <a:extLst>
                  <a:ext uri="{FF2B5EF4-FFF2-40B4-BE49-F238E27FC236}">
                    <a16:creationId xmlns:a16="http://schemas.microsoft.com/office/drawing/2014/main" id="{F6EF842D-F811-4CED-BDF7-B3D4A8335FAA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2754DBF7-D625-8FFC-1FA9-8B128DEE27BE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CACDEDD-6234-CF99-71C3-AF7BA1F75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9BB35E-5E2D-1679-1F6A-6F2054AB4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1133668"/>
            <a:ext cx="7851253" cy="330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717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0DF85967-F309-5CB6-53FE-070888AE8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EDC200AB-8348-1ACC-9AD5-43FDEFC2B304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457200">
              <a:buSzPts val="2500"/>
            </a:pPr>
            <a:r>
              <a:rPr lang="en-US" sz="2000" dirty="0"/>
              <a:t>Worked Numerical Example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F40C58BD-098E-143F-4FF9-1D36F219F049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16</a:t>
            </a:fld>
            <a:endParaRPr lang="x-none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389D0F33-3959-FB9B-164F-9C70E0E2474B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9D910ECD-8F01-7DF7-DFE9-DACDB36698C9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8ED0BD0A-A9EF-190A-32A6-EEB0C1B89B1D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1C8C1090-E2AC-9FC3-34AD-CF656181D451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4A391BFE-E771-74A8-5965-1CD1F9B89864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E984B1E4-603F-AA26-4BB2-07011037DDB4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0F62B021-D23C-252B-C18C-2B5851EA87CB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521D0A6F-501A-5206-9157-771EA9CBEF0B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679E6704-64CA-78B7-9A6F-63F3650885B4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4;p25">
                <a:extLst>
                  <a:ext uri="{FF2B5EF4-FFF2-40B4-BE49-F238E27FC236}">
                    <a16:creationId xmlns:a16="http://schemas.microsoft.com/office/drawing/2014/main" id="{9A3CA401-893D-EAD5-A803-9E892E714B61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5;p25">
                <a:extLst>
                  <a:ext uri="{FF2B5EF4-FFF2-40B4-BE49-F238E27FC236}">
                    <a16:creationId xmlns:a16="http://schemas.microsoft.com/office/drawing/2014/main" id="{B50B2DEE-8059-34E7-A3E4-289789C0DBFA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13BAE103-E226-F744-5E87-CFC840C60278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84A6FD3B-F4CA-4AC6-873C-6EB544920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388C47-6AF9-D2DE-9DFE-803FF14FC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43" y="839711"/>
            <a:ext cx="7046686" cy="1976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33F53F-6F22-181A-A5AC-6E5810CAD371}"/>
              </a:ext>
            </a:extLst>
          </p:cNvPr>
          <p:cNvSpPr txBox="1"/>
          <p:nvPr/>
        </p:nvSpPr>
        <p:spPr>
          <a:xfrm>
            <a:off x="892628" y="3288126"/>
            <a:ext cx="57041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LOF ≈ 1</a:t>
            </a:r>
            <a:br>
              <a:rPr lang="en-US" sz="1200" dirty="0"/>
            </a:br>
            <a:r>
              <a:rPr lang="en-US" sz="1200" dirty="0"/>
              <a:t>Density comparable to neighbors → normal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b="1" dirty="0"/>
          </a:p>
          <a:p>
            <a:r>
              <a:rPr lang="en-US" sz="1200" b="1" dirty="0"/>
              <a:t>LOF &gt; 1</a:t>
            </a:r>
            <a:br>
              <a:rPr lang="en-US" sz="1200" dirty="0"/>
            </a:br>
            <a:r>
              <a:rPr lang="en-US" sz="1200" dirty="0"/>
              <a:t>Local density lower than neighbors → anomalous</a:t>
            </a:r>
          </a:p>
        </p:txBody>
      </p:sp>
    </p:spTree>
    <p:extLst>
      <p:ext uri="{BB962C8B-B14F-4D97-AF65-F5344CB8AC3E}">
        <p14:creationId xmlns:p14="http://schemas.microsoft.com/office/powerpoint/2010/main" val="4206029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2500" dirty="0">
              <a:solidFill>
                <a:srgbClr val="07376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72AC6A-BCEE-2266-549B-03B3DFBF9EDB}"/>
              </a:ext>
            </a:extLst>
          </p:cNvPr>
          <p:cNvSpPr txBox="1"/>
          <p:nvPr/>
        </p:nvSpPr>
        <p:spPr>
          <a:xfrm>
            <a:off x="679149" y="2310140"/>
            <a:ext cx="73629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457200" algn="ctr">
              <a:buSzPts val="2500"/>
              <a:buNone/>
              <a:defRPr sz="2500" b="1">
                <a:solidFill>
                  <a:srgbClr val="073763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Isolation forest</a:t>
            </a:r>
          </a:p>
        </p:txBody>
      </p:sp>
      <p:grpSp>
        <p:nvGrpSpPr>
          <p:cNvPr id="2" name="Google Shape;101;p25">
            <a:extLst>
              <a:ext uri="{FF2B5EF4-FFF2-40B4-BE49-F238E27FC236}">
                <a16:creationId xmlns:a16="http://schemas.microsoft.com/office/drawing/2014/main" id="{6CA6EFE8-D08B-E05E-3EB6-0816FCC4CC14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3" name="Google Shape;102;p25">
              <a:extLst>
                <a:ext uri="{FF2B5EF4-FFF2-40B4-BE49-F238E27FC236}">
                  <a16:creationId xmlns:a16="http://schemas.microsoft.com/office/drawing/2014/main" id="{7D75A647-C7BB-C371-E604-1E7237148057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5" name="Google Shape;103;p25">
                <a:extLst>
                  <a:ext uri="{FF2B5EF4-FFF2-40B4-BE49-F238E27FC236}">
                    <a16:creationId xmlns:a16="http://schemas.microsoft.com/office/drawing/2014/main" id="{87BB10D5-8790-1E11-095C-F7746A15B9BC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" name="Google Shape;104;p25">
                <a:extLst>
                  <a:ext uri="{FF2B5EF4-FFF2-40B4-BE49-F238E27FC236}">
                    <a16:creationId xmlns:a16="http://schemas.microsoft.com/office/drawing/2014/main" id="{1262E61D-414B-B2F7-A69C-4CEABFD3AB13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" name="Google Shape;105;p25">
                <a:extLst>
                  <a:ext uri="{FF2B5EF4-FFF2-40B4-BE49-F238E27FC236}">
                    <a16:creationId xmlns:a16="http://schemas.microsoft.com/office/drawing/2014/main" id="{84005C91-0943-19A8-F482-8649560CC604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4" name="Google Shape;106;p25">
              <a:extLst>
                <a:ext uri="{FF2B5EF4-FFF2-40B4-BE49-F238E27FC236}">
                  <a16:creationId xmlns:a16="http://schemas.microsoft.com/office/drawing/2014/main" id="{6841C836-61C7-F575-E772-934A5CD0096C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oogle Shape;101;p25">
            <a:extLst>
              <a:ext uri="{FF2B5EF4-FFF2-40B4-BE49-F238E27FC236}">
                <a16:creationId xmlns:a16="http://schemas.microsoft.com/office/drawing/2014/main" id="{CC0CEB52-7890-5B13-4F2A-6A6A24388603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6" name="Google Shape;102;p25">
              <a:extLst>
                <a:ext uri="{FF2B5EF4-FFF2-40B4-BE49-F238E27FC236}">
                  <a16:creationId xmlns:a16="http://schemas.microsoft.com/office/drawing/2014/main" id="{B99B9B47-B386-A2CC-75E1-347F06314904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8" name="Google Shape;103;p25">
                <a:extLst>
                  <a:ext uri="{FF2B5EF4-FFF2-40B4-BE49-F238E27FC236}">
                    <a16:creationId xmlns:a16="http://schemas.microsoft.com/office/drawing/2014/main" id="{705F709A-0B4B-8F6E-FDB3-10E2F7961A41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" name="Google Shape;104;p25">
                <a:extLst>
                  <a:ext uri="{FF2B5EF4-FFF2-40B4-BE49-F238E27FC236}">
                    <a16:creationId xmlns:a16="http://schemas.microsoft.com/office/drawing/2014/main" id="{49ED20B4-0DE5-6FE7-1D5E-3335F45BCF98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" name="Google Shape;105;p25">
                <a:extLst>
                  <a:ext uri="{FF2B5EF4-FFF2-40B4-BE49-F238E27FC236}">
                    <a16:creationId xmlns:a16="http://schemas.microsoft.com/office/drawing/2014/main" id="{BEF0D7FC-1BE9-E89E-19B6-1F9B10A990DC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" name="Google Shape;106;p25">
              <a:extLst>
                <a:ext uri="{FF2B5EF4-FFF2-40B4-BE49-F238E27FC236}">
                  <a16:creationId xmlns:a16="http://schemas.microsoft.com/office/drawing/2014/main" id="{128F3BEB-8AE3-3487-A55C-9037273B6C4A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E5F60A2C-F273-F2A4-0AFD-3A9B49150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64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Isolation forest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790AC127-5F55-6FE1-FE33-008FDC7D3F28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/>
              <a:pPr/>
              <a:t>18</a:t>
            </a:fld>
            <a:endParaRPr lang="x-none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514E7-E8BB-072B-FE4F-A5A00E76D7A7}"/>
              </a:ext>
            </a:extLst>
          </p:cNvPr>
          <p:cNvSpPr txBox="1"/>
          <p:nvPr/>
        </p:nvSpPr>
        <p:spPr>
          <a:xfrm>
            <a:off x="444236" y="1372324"/>
            <a:ext cx="82643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Definition</a:t>
            </a:r>
            <a:br>
              <a:rPr lang="en-US" dirty="0"/>
            </a:br>
            <a:r>
              <a:rPr lang="en-US" dirty="0"/>
              <a:t>Isolation Forest is an unsupervised anomaly detection algorithm that identifies anomalies by </a:t>
            </a:r>
            <a:r>
              <a:rPr lang="en-US" b="1" dirty="0"/>
              <a:t>isolating observations using random splits</a:t>
            </a:r>
            <a:r>
              <a:rPr lang="en-US" dirty="0"/>
              <a:t>. Points that are isolated with </a:t>
            </a:r>
            <a:r>
              <a:rPr lang="en-US" b="1" dirty="0"/>
              <a:t>fewer splits</a:t>
            </a:r>
            <a:r>
              <a:rPr lang="en-US" dirty="0"/>
              <a:t> are considered anomalous.</a:t>
            </a:r>
          </a:p>
          <a:p>
            <a:endParaRPr lang="en-US" b="1" dirty="0"/>
          </a:p>
          <a:p>
            <a:r>
              <a:rPr lang="en-US" b="1" dirty="0"/>
              <a:t>Problem it solves</a:t>
            </a:r>
            <a:br>
              <a:rPr lang="en-US" dirty="0"/>
            </a:br>
            <a:r>
              <a:rPr lang="en-US" dirty="0"/>
              <a:t>Detects anomalies </a:t>
            </a:r>
            <a:r>
              <a:rPr lang="en-US" b="1" dirty="0"/>
              <a:t>without computing distances or densities</a:t>
            </a:r>
            <a:r>
              <a:rPr lang="en-US" dirty="0"/>
              <a:t>, avoiding common failures in complex or high-dimensional data.</a:t>
            </a:r>
          </a:p>
          <a:p>
            <a:endParaRPr lang="en-US" b="1" dirty="0"/>
          </a:p>
          <a:p>
            <a:r>
              <a:rPr lang="en-US" b="1" dirty="0"/>
              <a:t>Why it works well in high dimensions</a:t>
            </a:r>
            <a:br>
              <a:rPr lang="en-US" dirty="0"/>
            </a:br>
            <a:r>
              <a:rPr lang="en-US" dirty="0"/>
              <a:t>It relies on </a:t>
            </a:r>
            <a:r>
              <a:rPr lang="en-US" b="1" dirty="0"/>
              <a:t>random partitioning</a:t>
            </a:r>
            <a:r>
              <a:rPr lang="en-US" dirty="0"/>
              <a:t>, not geometry. Distances and densities degrade in high dimensions; random splits do not.</a:t>
            </a:r>
          </a:p>
        </p:txBody>
      </p:sp>
      <p:grpSp>
        <p:nvGrpSpPr>
          <p:cNvPr id="10" name="Google Shape;101;p25">
            <a:extLst>
              <a:ext uri="{FF2B5EF4-FFF2-40B4-BE49-F238E27FC236}">
                <a16:creationId xmlns:a16="http://schemas.microsoft.com/office/drawing/2014/main" id="{DF8E0E72-DF80-1E79-4391-5543E906FD8C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1" name="Google Shape;102;p25">
              <a:extLst>
                <a:ext uri="{FF2B5EF4-FFF2-40B4-BE49-F238E27FC236}">
                  <a16:creationId xmlns:a16="http://schemas.microsoft.com/office/drawing/2014/main" id="{632C69B3-46CA-107D-6505-00AD2FC1B9AD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3" name="Google Shape;103;p25">
                <a:extLst>
                  <a:ext uri="{FF2B5EF4-FFF2-40B4-BE49-F238E27FC236}">
                    <a16:creationId xmlns:a16="http://schemas.microsoft.com/office/drawing/2014/main" id="{F0513527-45A6-7BDD-09EB-D8FE9215C27E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4;p25">
                <a:extLst>
                  <a:ext uri="{FF2B5EF4-FFF2-40B4-BE49-F238E27FC236}">
                    <a16:creationId xmlns:a16="http://schemas.microsoft.com/office/drawing/2014/main" id="{25C72710-EB4D-1B96-7E8A-E33B9C4394B0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" name="Google Shape;105;p25">
                <a:extLst>
                  <a:ext uri="{FF2B5EF4-FFF2-40B4-BE49-F238E27FC236}">
                    <a16:creationId xmlns:a16="http://schemas.microsoft.com/office/drawing/2014/main" id="{6AE7F953-2CE4-85A9-8FAD-D9443186DC68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2" name="Google Shape;106;p25">
              <a:extLst>
                <a:ext uri="{FF2B5EF4-FFF2-40B4-BE49-F238E27FC236}">
                  <a16:creationId xmlns:a16="http://schemas.microsoft.com/office/drawing/2014/main" id="{5805E0B1-0B6A-C55B-2D56-A9148EC209CA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" name="Google Shape;101;p25">
            <a:extLst>
              <a:ext uri="{FF2B5EF4-FFF2-40B4-BE49-F238E27FC236}">
                <a16:creationId xmlns:a16="http://schemas.microsoft.com/office/drawing/2014/main" id="{45DF07FE-5512-A188-EF5B-53151C165AD0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7" name="Google Shape;102;p25">
              <a:extLst>
                <a:ext uri="{FF2B5EF4-FFF2-40B4-BE49-F238E27FC236}">
                  <a16:creationId xmlns:a16="http://schemas.microsoft.com/office/drawing/2014/main" id="{3AE56364-5ED5-E6D4-1A9F-D18D82A3F581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20" name="Google Shape;103;p25">
                <a:extLst>
                  <a:ext uri="{FF2B5EF4-FFF2-40B4-BE49-F238E27FC236}">
                    <a16:creationId xmlns:a16="http://schemas.microsoft.com/office/drawing/2014/main" id="{53330AF4-D71F-0D31-C770-7066065AF9DC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104;p25">
                <a:extLst>
                  <a:ext uri="{FF2B5EF4-FFF2-40B4-BE49-F238E27FC236}">
                    <a16:creationId xmlns:a16="http://schemas.microsoft.com/office/drawing/2014/main" id="{D32ECDCA-DA15-2ABC-B3F9-ECC4AD7ED7CD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" name="Google Shape;105;p25">
                <a:extLst>
                  <a:ext uri="{FF2B5EF4-FFF2-40B4-BE49-F238E27FC236}">
                    <a16:creationId xmlns:a16="http://schemas.microsoft.com/office/drawing/2014/main" id="{F5E6A771-D656-66E3-D442-A6194EB7AB30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8" name="Google Shape;106;p25">
              <a:extLst>
                <a:ext uri="{FF2B5EF4-FFF2-40B4-BE49-F238E27FC236}">
                  <a16:creationId xmlns:a16="http://schemas.microsoft.com/office/drawing/2014/main" id="{AB66CFFA-9389-3D82-D815-0EF24264D077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AAF8956B-F21F-ACCD-9D3C-50BCFD123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1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Isolation forest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790AC127-5F55-6FE1-FE33-008FDC7D3F28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/>
              <a:pPr/>
              <a:t>19</a:t>
            </a:fld>
            <a:endParaRPr lang="x-none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8AD86-751C-2FB9-170B-CD35C56F625E}"/>
              </a:ext>
            </a:extLst>
          </p:cNvPr>
          <p:cNvSpPr txBox="1"/>
          <p:nvPr/>
        </p:nvSpPr>
        <p:spPr>
          <a:xfrm>
            <a:off x="222199" y="1257813"/>
            <a:ext cx="425545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Traditional anomaly detection: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Measures how far a point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 how dense its neighborhood is</a:t>
            </a:r>
          </a:p>
          <a:p>
            <a:endParaRPr lang="en-US" dirty="0"/>
          </a:p>
          <a:p>
            <a:r>
              <a:rPr lang="en-US" dirty="0"/>
              <a:t>Isolation Forest: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</a:t>
            </a:r>
            <a:r>
              <a:rPr lang="en-US" b="1" dirty="0"/>
              <a:t>not</a:t>
            </a:r>
            <a:r>
              <a:rPr lang="en-US" dirty="0"/>
              <a:t> model normal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</a:t>
            </a:r>
            <a:r>
              <a:rPr lang="en-US" b="1" dirty="0"/>
              <a:t>not</a:t>
            </a:r>
            <a:r>
              <a:rPr lang="en-US" dirty="0"/>
              <a:t> define neighborhoods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</a:t>
            </a:r>
            <a:r>
              <a:rPr lang="en-US" b="1" dirty="0"/>
              <a:t>not</a:t>
            </a:r>
            <a:r>
              <a:rPr lang="en-US" dirty="0"/>
              <a:t> estimate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Core idea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Anomalies are easier to isolate than normal points.</a:t>
            </a:r>
          </a:p>
          <a:p>
            <a:r>
              <a:rPr lang="en-US" dirty="0"/>
              <a:t>Normal points are surrounded by many others.</a:t>
            </a:r>
            <a:br>
              <a:rPr lang="en-US" dirty="0"/>
            </a:br>
            <a:r>
              <a:rPr lang="en-US" dirty="0"/>
              <a:t>Anomalies are few and lie in sparse regions.</a:t>
            </a:r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8DEEA006-A31A-57B2-32A4-A5C99F7569DA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99E031DA-8A13-62C1-65E2-C07A0944C13E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B6F54E5F-58D7-2D91-4A86-E15C643789AD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9E58144B-7F3D-C0CE-3867-E13553C6854D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2BE3CB60-AC0F-4137-4560-42828C235D38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54634046-F154-6E5D-C1E3-8BC4D8A4A1E4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4805E98-35B1-E768-4557-9CC62A7C5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2125" name="Picture 77" descr="Path length decision boundary  of IsolationForest">
            <a:extLst>
              <a:ext uri="{FF2B5EF4-FFF2-40B4-BE49-F238E27FC236}">
                <a16:creationId xmlns:a16="http://schemas.microsoft.com/office/drawing/2014/main" id="{8126FA84-E8EA-30BA-0206-C23047AAC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689" y="846063"/>
            <a:ext cx="5248125" cy="393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99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Isolation forest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790AC127-5F55-6FE1-FE33-008FDC7D3F28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/>
              <a:pPr/>
              <a:t>20</a:t>
            </a:fld>
            <a:endParaRPr lang="x-none" sz="1600" dirty="0"/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47F102E7-5360-0E99-6DB4-033788D5462A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BA7F8F57-4A01-BA5C-6AE7-89785632F8B9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0D07AA2B-F74C-CEE1-835D-1B17BD4A8AA4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389A60AA-96EF-1E1B-A358-CF3B18F4DA99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8C9361C4-53E2-7765-D5EF-9D2215AA4702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73F527C1-C6FF-F0E8-EF0E-F159F1F7A576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327803-CFAF-3D77-FD26-3AF239FB3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D6BF29-B6AC-537E-BB5C-399CD4294693}"/>
              </a:ext>
            </a:extLst>
          </p:cNvPr>
          <p:cNvSpPr txBox="1"/>
          <p:nvPr/>
        </p:nvSpPr>
        <p:spPr>
          <a:xfrm>
            <a:off x="182193" y="1378656"/>
            <a:ext cx="377295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Isolation Forest builds trees using: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feature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split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Recursive partitioning</a:t>
            </a:r>
          </a:p>
          <a:p>
            <a:pPr>
              <a:buNone/>
            </a:pPr>
            <a:r>
              <a:rPr lang="en-US" dirty="0"/>
              <a:t>Each split divides the data into two parts.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Why randomness helps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assumptions about data shape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optimization 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Quickly separates rare points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Randomness makes the algorithm </a:t>
            </a:r>
            <a:r>
              <a:rPr lang="en-US" b="1" dirty="0"/>
              <a:t>simple, fast, and robust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EC840-70BD-21B8-185D-DDB262D080B1}"/>
              </a:ext>
            </a:extLst>
          </p:cNvPr>
          <p:cNvSpPr txBox="1"/>
          <p:nvPr/>
        </p:nvSpPr>
        <p:spPr>
          <a:xfrm>
            <a:off x="4520435" y="1378656"/>
            <a:ext cx="444137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Anomalies Require Fewer Splits</a:t>
            </a:r>
          </a:p>
          <a:p>
            <a:pPr>
              <a:buNone/>
            </a:pPr>
            <a:r>
              <a:rPr lang="en-US" dirty="0"/>
              <a:t>Dense regions: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points clustered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splits needed to separate one point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Sparse regions: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or two splits often enough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Key observation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 path → easy to isolate → anomaly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path → hard to isolate → normal</a:t>
            </a:r>
          </a:p>
          <a:p>
            <a:pPr>
              <a:buNone/>
            </a:pPr>
            <a:r>
              <a:rPr lang="en-US" dirty="0"/>
              <a:t>This property holds across dimensions.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3C2BAD-624A-75A4-A7BD-2165D814981B}"/>
              </a:ext>
            </a:extLst>
          </p:cNvPr>
          <p:cNvCxnSpPr/>
          <p:nvPr/>
        </p:nvCxnSpPr>
        <p:spPr>
          <a:xfrm>
            <a:off x="4085771" y="892629"/>
            <a:ext cx="0" cy="3870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189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1D787155-F770-BCAC-04BF-CC52B5BBF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6BC47578-ADCA-B2B9-EC9D-F9814104DC72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/>
              <a:t>Isolation forest - Algorithm Overview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76D46E4A-915E-17B0-0051-689403E0202E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/>
              <a:pPr/>
              <a:t>21</a:t>
            </a:fld>
            <a:endParaRPr lang="x-none" sz="1600" dirty="0"/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91377CE7-6FED-AE2A-AA5F-D8381956D77E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58C894A3-CBF0-AA26-AA7A-46AD728FF55F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EE382AEF-0D03-1102-A472-3149FBD3FC59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CFD5EEFB-D94E-A59F-7894-583C919B70B2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6F5B6C05-CCF4-499B-5851-1EAA5DC1AFE7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9066E59D-1454-69EB-0A22-DAAE4F0E3E78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95BECBE8-9919-621E-2AA3-5C30B419F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B6ACD7-5B8B-6B75-F6F0-A9B5375234BF}"/>
                  </a:ext>
                </a:extLst>
              </p:cNvPr>
              <p:cNvSpPr txBox="1"/>
              <p:nvPr/>
            </p:nvSpPr>
            <p:spPr>
              <a:xfrm>
                <a:off x="958065" y="990116"/>
                <a:ext cx="7595371" cy="3539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b="1" dirty="0"/>
                  <a:t>Step 1: Subsampling the data</a:t>
                </a:r>
                <a:br>
                  <a:rPr lang="en-US" dirty="0"/>
                </a:br>
                <a:r>
                  <a:rPr lang="en-US" dirty="0"/>
                  <a:t>	Randomly sample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</m:oMath>
                </a14:m>
                <a:r>
                  <a:rPr lang="en-US" dirty="0"/>
                  <a:t>points from the dataset (without replacement).</a:t>
                </a:r>
              </a:p>
              <a:p>
                <a:pPr lvl="1"/>
                <a:r>
                  <a:rPr lang="en-US" b="1" dirty="0"/>
                  <a:t>Step 2: Random feature selection</a:t>
                </a:r>
                <a:br>
                  <a:rPr lang="en-US" dirty="0"/>
                </a:br>
                <a:r>
                  <a:rPr lang="en-US" dirty="0"/>
                  <a:t>	At each node, randomly choose one feature.</a:t>
                </a:r>
              </a:p>
              <a:p>
                <a:pPr lvl="1"/>
                <a:r>
                  <a:rPr lang="en-US" b="1" dirty="0"/>
                  <a:t>Step 3: Random split value</a:t>
                </a:r>
                <a:br>
                  <a:rPr lang="en-US" dirty="0"/>
                </a:br>
                <a:r>
                  <a:rPr lang="en-US" dirty="0"/>
                  <a:t>	Select a split uniformly between the feature’s minimum and maximum.</a:t>
                </a:r>
              </a:p>
              <a:p>
                <a:pPr lvl="1"/>
                <a:r>
                  <a:rPr lang="en-US" b="1" dirty="0"/>
                  <a:t>Step 4: Recursive partitioning</a:t>
                </a:r>
                <a:br>
                  <a:rPr lang="en-US" dirty="0"/>
                </a:br>
                <a:r>
                  <a:rPr lang="en-US" dirty="0"/>
                  <a:t>	Split data and repeat until:</a:t>
                </a:r>
              </a:p>
              <a:p>
                <a:pPr lvl="1"/>
                <a:r>
                  <a:rPr lang="en-US" dirty="0"/>
                  <a:t>	one point remains, or</a:t>
                </a:r>
              </a:p>
              <a:p>
                <a:pPr lvl="1"/>
                <a:r>
                  <a:rPr lang="en-US" dirty="0"/>
                  <a:t>	maximum depth is reached</a:t>
                </a:r>
              </a:p>
              <a:p>
                <a:pPr lvl="1"/>
                <a:r>
                  <a:rPr lang="en-US" b="1" dirty="0"/>
                  <a:t>Step 5: Path length computation</a:t>
                </a:r>
                <a:br>
                  <a:rPr lang="en-US" dirty="0"/>
                </a:br>
                <a:r>
                  <a:rPr lang="en-US" dirty="0"/>
                  <a:t>	Record the depth at which each point is isolated.</a:t>
                </a:r>
              </a:p>
              <a:p>
                <a:pPr lvl="1"/>
                <a:r>
                  <a:rPr lang="en-US" b="1" dirty="0"/>
                  <a:t>Step 6: Averaging across trees</a:t>
                </a:r>
                <a:br>
                  <a:rPr lang="en-US" dirty="0"/>
                </a:br>
                <a:r>
                  <a:rPr lang="en-US" dirty="0"/>
                  <a:t>	Repeat steps 1–5 across many trees and average path lengths.</a:t>
                </a:r>
              </a:p>
              <a:p>
                <a:pPr lvl="1"/>
                <a:r>
                  <a:rPr lang="en-US" b="1" dirty="0"/>
                  <a:t>Step 7: Anomaly score computation</a:t>
                </a:r>
                <a:br>
                  <a:rPr lang="en-US" dirty="0"/>
                </a:br>
                <a:r>
                  <a:rPr lang="en-US" dirty="0"/>
                  <a:t>	Convert average path length into a normalized anomaly score.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B6ACD7-5B8B-6B75-F6F0-A9B537523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065" y="990116"/>
                <a:ext cx="7595371" cy="3539430"/>
              </a:xfrm>
              <a:prstGeom prst="rect">
                <a:avLst/>
              </a:prstGeom>
              <a:blipFill>
                <a:blip r:embed="rId4"/>
                <a:stretch>
                  <a:fillRect l="-241" t="-172" b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225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63B27D48-FFA2-3366-BF89-D3C1D2FAA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0BC33B46-22F4-FA03-DE12-9D2B18DA3E36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Isolation forest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C339A874-DFAE-A35C-910A-1E40C6A3769A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/>
              <a:pPr/>
              <a:t>22</a:t>
            </a:fld>
            <a:endParaRPr lang="x-none" sz="1600" dirty="0"/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9144995F-7F02-009A-AB51-9298EB83817F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013420B4-6160-6D9C-C1E3-0961D445E4E5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5F25CFD2-1FF3-A96A-95E6-CC6F74D20488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450079B4-B2B2-DD6C-E7E9-AAB5C28EF61F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5061F28A-ED73-531D-5A95-75EEE99E3036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E1DE07BC-87BD-9082-5095-09A8FE61C4B2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F5A6B920-67D4-BF84-505B-A6DD8584D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CC4AE5-26EA-3090-F04F-4C050DDD9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28" y="737505"/>
            <a:ext cx="8222343" cy="408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45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974F59A-5027-B4F5-4C03-20CB73B5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8" name="Google Shape;188;p28">
                <a:extLst>
                  <a:ext uri="{FF2B5EF4-FFF2-40B4-BE49-F238E27FC236}">
                    <a16:creationId xmlns:a16="http://schemas.microsoft.com/office/drawing/2014/main" id="{B7135CE6-B357-5F2F-0292-50945F3A0F22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6330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2000" dirty="0"/>
                  <a:t>  Normalization Constant </a:t>
                </a:r>
                <a14:m>
                  <m:oMath xmlns:m="http://schemas.openxmlformats.org/officeDocument/2006/math">
                    <m:r>
                      <a:rPr lang="en-US" i="1"/>
                      <m:t>𝑐</m:t>
                    </m:r>
                    <m:d>
                      <m:dPr>
                        <m:ctrlPr>
                          <a:rPr lang="ar-EG" i="1"/>
                        </m:ctrlPr>
                      </m:dPr>
                      <m:e>
                        <m:r>
                          <a:rPr lang="ar-EG" i="1"/>
                          <m:t>𝑛</m:t>
                        </m:r>
                      </m:e>
                    </m:d>
                  </m:oMath>
                </a14:m>
                <a:r>
                  <a:rPr lang="ar-EG" sz="2000" dirty="0"/>
                  <a:t>: </a:t>
                </a:r>
                <a:r>
                  <a:rPr lang="en-US" sz="2000" dirty="0"/>
                  <a:t>Expected Path Length</a:t>
                </a:r>
                <a:endPara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8" name="Google Shape;188;p28">
                <a:extLst>
                  <a:ext uri="{FF2B5EF4-FFF2-40B4-BE49-F238E27FC236}">
                    <a16:creationId xmlns:a16="http://schemas.microsoft.com/office/drawing/2014/main" id="{B7135CE6-B357-5F2F-0292-50945F3A0F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63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6982602-1A39-16B9-9341-DBCEC203BEE1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/>
              <a:pPr/>
              <a:t>23</a:t>
            </a:fld>
            <a:endParaRPr lang="x-none" sz="1600" dirty="0"/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80CBA252-41B9-99C2-872D-73C8C6FBE98E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00DA80B1-A3F6-A99D-A7E0-AE8ED747CB26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7D413DAD-C97D-0792-2D60-F924BC8CB455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861725B0-889C-81B5-A112-26872ECB710B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DE1D69B5-1A77-0835-8665-8AE8A6809788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397A4957-3B8B-5AB1-4CA2-A4C495747BBC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0CD040FB-6FEB-3FC2-704E-4567ECF41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86D1FC-DF66-63A0-98E9-1C1AFCAF7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636" y="737505"/>
            <a:ext cx="8178800" cy="391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72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081C3832-EDD9-DFC0-715B-5751DEF9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6724292F-CBC0-168D-F470-C320EA0AD338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/>
              <a:t>   Anomaly Score Function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270FA155-E215-F4BE-5D95-4F5D75605630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/>
              <a:pPr/>
              <a:t>24</a:t>
            </a:fld>
            <a:endParaRPr lang="x-none" sz="1600" dirty="0"/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2406BF35-F2CD-0123-849A-A868E55AD0A4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63CDA69C-A197-8561-E895-8CCDAC23451E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689AD406-F0F5-D5B1-663D-14165DC255E5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CF1E13CD-2955-C827-EF6D-B5646DDBA5C9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23FFC532-4FEC-13EB-E628-6D28D5724E6F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4620C0BA-C913-2B51-F3EB-FA6AB470B753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64ED966-FDAA-37E2-42CD-2C6605D27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BAB8A-BC9C-A0C0-EBC8-D5BD50073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1" y="836692"/>
            <a:ext cx="6770914" cy="25581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1F1FE3-DF9E-5B39-40A4-E541F8B335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5768"/>
          <a:stretch>
            <a:fillRect/>
          </a:stretch>
        </p:blipFill>
        <p:spPr>
          <a:xfrm>
            <a:off x="341086" y="3394888"/>
            <a:ext cx="3642323" cy="152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78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B5DEFD69-6026-9148-7EAF-A6234EDE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>
            <a:extLst>
              <a:ext uri="{FF2B5EF4-FFF2-40B4-BE49-F238E27FC236}">
                <a16:creationId xmlns:a16="http://schemas.microsoft.com/office/drawing/2014/main" id="{D2E1E32A-54F0-3BCD-A705-402734264C5E}"/>
              </a:ext>
            </a:extLst>
          </p:cNvPr>
          <p:cNvSpPr/>
          <p:nvPr/>
        </p:nvSpPr>
        <p:spPr>
          <a:xfrm>
            <a:off x="0" y="0"/>
            <a:ext cx="9144000" cy="63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/>
              <a:t>Anomaly Score Interpretation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555EA730-14B7-841C-8AAC-6B52BBFEFA30}"/>
              </a:ext>
            </a:extLst>
          </p:cNvPr>
          <p:cNvSpPr txBox="1">
            <a:spLocks/>
          </p:cNvSpPr>
          <p:nvPr/>
        </p:nvSpPr>
        <p:spPr>
          <a:xfrm>
            <a:off x="11000414" y="6419498"/>
            <a:ext cx="374818" cy="202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1BBB0-96F0-4077-A278-0F3FB5C104D3}" type="slidenum">
              <a:rPr lang="x-none" sz="1600" smtClean="0"/>
              <a:pPr/>
              <a:t>25</a:t>
            </a:fld>
            <a:endParaRPr lang="x-none" sz="1600" dirty="0"/>
          </a:p>
        </p:txBody>
      </p:sp>
      <p:grpSp>
        <p:nvGrpSpPr>
          <p:cNvPr id="9" name="Google Shape;101;p25">
            <a:extLst>
              <a:ext uri="{FF2B5EF4-FFF2-40B4-BE49-F238E27FC236}">
                <a16:creationId xmlns:a16="http://schemas.microsoft.com/office/drawing/2014/main" id="{160DA4C9-468F-C23E-2230-2054D69D992B}"/>
              </a:ext>
            </a:extLst>
          </p:cNvPr>
          <p:cNvGrpSpPr/>
          <p:nvPr/>
        </p:nvGrpSpPr>
        <p:grpSpPr>
          <a:xfrm>
            <a:off x="0" y="4886663"/>
            <a:ext cx="9144000" cy="256838"/>
            <a:chOff x="21825" y="4897525"/>
            <a:chExt cx="9122100" cy="245825"/>
          </a:xfrm>
        </p:grpSpPr>
        <p:grpSp>
          <p:nvGrpSpPr>
            <p:cNvPr id="10" name="Google Shape;102;p25">
              <a:extLst>
                <a:ext uri="{FF2B5EF4-FFF2-40B4-BE49-F238E27FC236}">
                  <a16:creationId xmlns:a16="http://schemas.microsoft.com/office/drawing/2014/main" id="{039762FA-1E3E-573A-BD9E-57273C687104}"/>
                </a:ext>
              </a:extLst>
            </p:cNvPr>
            <p:cNvGrpSpPr/>
            <p:nvPr/>
          </p:nvGrpSpPr>
          <p:grpSpPr>
            <a:xfrm>
              <a:off x="21825" y="4997550"/>
              <a:ext cx="9122100" cy="145800"/>
              <a:chOff x="21825" y="4997550"/>
              <a:chExt cx="9122100" cy="145800"/>
            </a:xfrm>
          </p:grpSpPr>
          <p:sp>
            <p:nvSpPr>
              <p:cNvPr id="12" name="Google Shape;103;p25">
                <a:extLst>
                  <a:ext uri="{FF2B5EF4-FFF2-40B4-BE49-F238E27FC236}">
                    <a16:creationId xmlns:a16="http://schemas.microsoft.com/office/drawing/2014/main" id="{4A55AFEF-A6C6-4ABE-ED0E-E8A0150CCBD7}"/>
                  </a:ext>
                </a:extLst>
              </p:cNvPr>
              <p:cNvSpPr/>
              <p:nvPr/>
            </p:nvSpPr>
            <p:spPr>
              <a:xfrm>
                <a:off x="21825" y="4997550"/>
                <a:ext cx="3633600" cy="1458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chemeClr val="bg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Muhammed Elameiry</a:t>
                </a:r>
                <a:endParaRPr sz="9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" name="Google Shape;104;p25">
                <a:extLst>
                  <a:ext uri="{FF2B5EF4-FFF2-40B4-BE49-F238E27FC236}">
                    <a16:creationId xmlns:a16="http://schemas.microsoft.com/office/drawing/2014/main" id="{53F8E7C7-08A9-D53E-FBC8-A8867F9BC55C}"/>
                  </a:ext>
                </a:extLst>
              </p:cNvPr>
              <p:cNvSpPr/>
              <p:nvPr/>
            </p:nvSpPr>
            <p:spPr>
              <a:xfrm>
                <a:off x="3655425" y="4997550"/>
                <a:ext cx="2466000" cy="145800"/>
              </a:xfrm>
              <a:prstGeom prst="rect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900" i="0" u="none" strike="noStrike" cap="none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ITI</a:t>
                </a:r>
                <a:endParaRPr sz="90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05;p25">
                <a:extLst>
                  <a:ext uri="{FF2B5EF4-FFF2-40B4-BE49-F238E27FC236}">
                    <a16:creationId xmlns:a16="http://schemas.microsoft.com/office/drawing/2014/main" id="{F9DEAD1E-154F-49AC-853D-69B9DB7B8239}"/>
                  </a:ext>
                </a:extLst>
              </p:cNvPr>
              <p:cNvSpPr/>
              <p:nvPr/>
            </p:nvSpPr>
            <p:spPr>
              <a:xfrm>
                <a:off x="6117825" y="4997550"/>
                <a:ext cx="3026100" cy="145800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" sz="900" dirty="0">
                    <a:solidFill>
                      <a:srgbClr val="C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Feb 7, 2025</a:t>
                </a:r>
                <a:endParaRPr sz="900" b="0" i="0" u="none" strike="noStrike" cap="none" dirty="0">
                  <a:solidFill>
                    <a:srgbClr val="C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1" name="Google Shape;106;p25">
              <a:extLst>
                <a:ext uri="{FF2B5EF4-FFF2-40B4-BE49-F238E27FC236}">
                  <a16:creationId xmlns:a16="http://schemas.microsoft.com/office/drawing/2014/main" id="{DBCBEA22-0970-3E1C-F8C2-C3F84577873A}"/>
                </a:ext>
              </a:extLst>
            </p:cNvPr>
            <p:cNvSpPr txBox="1"/>
            <p:nvPr/>
          </p:nvSpPr>
          <p:spPr>
            <a:xfrm>
              <a:off x="8554775" y="4897525"/>
              <a:ext cx="425400" cy="1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7376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D95390B-6445-F57F-A4F3-5E3F02E19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57" y="104505"/>
            <a:ext cx="1022757" cy="453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0F0CD7-314F-3E49-4CCD-D7551167C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29" y="961475"/>
            <a:ext cx="7371807" cy="35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7590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70375377383743A1E75DB981A52E34" ma:contentTypeVersion="20" ma:contentTypeDescription="Create a new document." ma:contentTypeScope="" ma:versionID="a54294c5a695428874baffb8fcab8e23">
  <xsd:schema xmlns:xsd="http://www.w3.org/2001/XMLSchema" xmlns:xs="http://www.w3.org/2001/XMLSchema" xmlns:p="http://schemas.microsoft.com/office/2006/metadata/properties" xmlns:ns1="http://schemas.microsoft.com/sharepoint/v3" xmlns:ns2="9edeefa7-2d7b-4b03-b784-6df295f8e6a8" xmlns:ns3="4000925b-c578-4404-b21c-88af2f31752d" targetNamespace="http://schemas.microsoft.com/office/2006/metadata/properties" ma:root="true" ma:fieldsID="3c71e2670ef5b99162e878149634c9b5" ns1:_="" ns2:_="" ns3:_="">
    <xsd:import namespace="http://schemas.microsoft.com/sharepoint/v3"/>
    <xsd:import namespace="9edeefa7-2d7b-4b03-b784-6df295f8e6a8"/>
    <xsd:import namespace="4000925b-c578-4404-b21c-88af2f3175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deefa7-2d7b-4b03-b784-6df295f8e6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c80d914-efd4-42d0-96aa-dcec31aa43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0925b-c578-4404-b21c-88af2f31752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2c0e287-5c5e-42de-a66e-f86bb6efc6c3}" ma:internalName="TaxCatchAll" ma:showField="CatchAllData" ma:web="4000925b-c578-4404-b21c-88af2f3175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14B486-505B-48A6-B60A-B9ACC5BC19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02FE20-5686-4B89-8E69-9E2A792957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edeefa7-2d7b-4b03-b784-6df295f8e6a8"/>
    <ds:schemaRef ds:uri="4000925b-c578-4404-b21c-88af2f3175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2837</TotalTime>
  <Words>1202</Words>
  <Application>Microsoft Office PowerPoint</Application>
  <PresentationFormat>On-screen Show (16:9)</PresentationFormat>
  <Paragraphs>284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Open Sans</vt:lpstr>
      <vt:lpstr>Cambria Math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Osama Fayez Oun</dc:creator>
  <cp:lastModifiedBy>Mohamed Mohamed Abdo Abdo Elameiry</cp:lastModifiedBy>
  <cp:revision>26</cp:revision>
  <dcterms:modified xsi:type="dcterms:W3CDTF">2026-01-31T00:10:25Z</dcterms:modified>
</cp:coreProperties>
</file>